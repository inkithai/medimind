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us has experienced—or helped a family member navigate—the chaos of scattered medical records. When health data is locked inside unreadable scans and disconnected PDFs, patients face real safety risks from overlooked drug interactions and missed lab trends. MediMind solves this by turning passive medical documents into an intelligent, active health concierge.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MediMind is not just an OCR scanner or a general chatbot. It is a purpose-built medical intelligence platform. When a user uploads a stack of medical records, MediMind extracts the clinical facts, constructs a coherent timeline, cross-checks every medication for safety, and allows patients to ask questions against their own health history.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core is engineered for clinical resilience. Medical documents are messy, and standard LLMs often break on formatting or leak verbose reasoning tags. We built a multi-rung structured recovery ladder with automated reasoning-tag suppression, local zero-network ONNX embeddings for RAG, and an automated safety engine that audits prescriptions against patient allergies and lab trends.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user's perspective, MediMind offers six core features: seamless multi-file batch uploads, automated clinical data extraction, an intuitive interactive timeline, a consolidated medicine history, severity-graded safety cross-checks, and a conversational RAG assistant that understands conversational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clean, modular, and built for production. The React/Vite frontend communicates via REST with a FastAPI Python backend. The AI layer decouples extraction, RAG retrieval, and conversation memory into distinct modules, backed by Supabase Postgres, Cloudinary, and local zero-network ONNX embeddings.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the exact user journey. A patient drops a stack of mixed medical documents into MediMind. Our background worker pool ingests and OCRs each file, runs our structured recovery ladder to extract normalized clinical data, checks for drug interactions, and delivers a clean timeline, active medication list, and safety report in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MediMind truly innovative is our synthesis of clinical rigor and technical resilience. Unlike generic wrappers, our platform guarantees structured JSON output through reasoning suppression and auto-fallback circuit breakers, while running zero-network local RAG embeddings to protect patient privacy. We are saving doctors time and preventing life-threatening medication errors for patients.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built on modern, type-safe, high-performance tooling—from React and Vite on the frontend to FastAPI, Supabase, and local ONNX embeddings on the backend. As we look ahead, we are expanding MediMind into a universal health OS with HL7 FHIR hospital interoperability, wearable health sync, and secure clinician sharing portals.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1 OF 8  •  REAL-WORLD CHALLENGE</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The Broken Medical Record Experience</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Why managing personal health records is dangerous, fragmented, and overwhelming</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19202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800600" cy="1645920"/>
          </a:xfrm>
          <a:prstGeom prst="rect">
            <a:avLst/>
          </a:prstGeom>
          <a:noFill/>
        </p:spPr>
        <p:txBody>
          <a:bodyPr wrap="square">
            <a:spAutoFit/>
          </a:bodyPr>
          <a:lstStyle/>
          <a:p>
            <a:pPr>
              <a:spcAft>
                <a:spcPts val="400"/>
              </a:spcAft>
              <a:defRPr sz="1000" b="1">
                <a:solidFill>
                  <a:srgbClr val="F59E0B"/>
                </a:solidFill>
                <a:latin typeface="Arial"/>
              </a:defRPr>
            </a:pPr>
            <a:r>
              <a:t>PROBLEM 01</a:t>
            </a:r>
          </a:p>
          <a:p>
            <a:pPr>
              <a:spcAft>
                <a:spcPts val="800"/>
              </a:spcAft>
              <a:defRPr sz="1500" b="1">
                <a:solidFill>
                  <a:srgbClr val="F8FAFC"/>
                </a:solidFill>
                <a:latin typeface="Arial"/>
              </a:defRPr>
            </a:pPr>
            <a:r>
              <a:t>Fragmented Health Silos</a:t>
            </a:r>
          </a:p>
          <a:p>
            <a:pPr>
              <a:lnSpc>
                <a:spcPct val="125000"/>
              </a:lnSpc>
              <a:defRPr sz="1200">
                <a:solidFill>
                  <a:srgbClr val="94A3B8"/>
                </a:solidFill>
                <a:latin typeface="Arial"/>
              </a:defRPr>
            </a:pPr>
            <a:r>
              <a:t>Patients receive unstructured records from different hospitals, labs, and specialists—paper prescriptions, PDF blood tests, discharge notes, and scanned images. Critical medical history is trapped in disconnected silos.</a:t>
            </a:r>
          </a:p>
        </p:txBody>
      </p:sp>
      <p:sp>
        <p:nvSpPr>
          <p:cNvPr id="9" name="Rounded Rectangle 8"/>
          <p:cNvSpPr/>
          <p:nvPr/>
        </p:nvSpPr>
        <p:spPr>
          <a:xfrm>
            <a:off x="6217920" y="214884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148840"/>
            <a:ext cx="73152" cy="19202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286000"/>
            <a:ext cx="4892040" cy="1645920"/>
          </a:xfrm>
          <a:prstGeom prst="rect">
            <a:avLst/>
          </a:prstGeom>
          <a:noFill/>
        </p:spPr>
        <p:txBody>
          <a:bodyPr wrap="square">
            <a:spAutoFit/>
          </a:bodyPr>
          <a:lstStyle/>
          <a:p>
            <a:pPr>
              <a:spcAft>
                <a:spcPts val="400"/>
              </a:spcAft>
              <a:defRPr sz="1000" b="1">
                <a:solidFill>
                  <a:srgbClr val="F59E0B"/>
                </a:solidFill>
                <a:latin typeface="Arial"/>
              </a:defRPr>
            </a:pPr>
            <a:r>
              <a:t>PROBLEM 02</a:t>
            </a:r>
          </a:p>
          <a:p>
            <a:pPr>
              <a:spcAft>
                <a:spcPts val="800"/>
              </a:spcAft>
              <a:defRPr sz="1500" b="1">
                <a:solidFill>
                  <a:srgbClr val="F8FAFC"/>
                </a:solidFill>
                <a:latin typeface="Arial"/>
              </a:defRPr>
            </a:pPr>
            <a:r>
              <a:t>Clinical Jargon &amp; Confusion</a:t>
            </a:r>
          </a:p>
          <a:p>
            <a:pPr>
              <a:lnSpc>
                <a:spcPct val="125000"/>
              </a:lnSpc>
              <a:defRPr sz="1200">
                <a:solidFill>
                  <a:srgbClr val="94A3B8"/>
                </a:solidFill>
                <a:latin typeface="Arial"/>
              </a:defRPr>
            </a:pPr>
            <a:r>
              <a:t>Medical documents are written for clinicians, not patients. Complex terminology, Latin dosage abbreviations, and obscure reference ranges leave patients and caregivers anxious and unsure about their own health status.</a:t>
            </a:r>
          </a:p>
        </p:txBody>
      </p:sp>
      <p:sp>
        <p:nvSpPr>
          <p:cNvPr id="12" name="Rounded Rectangle 11"/>
          <p:cNvSpPr/>
          <p:nvPr/>
        </p:nvSpPr>
        <p:spPr>
          <a:xfrm>
            <a:off x="731520" y="434340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343400"/>
            <a:ext cx="73152" cy="19202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4800600" cy="1645920"/>
          </a:xfrm>
          <a:prstGeom prst="rect">
            <a:avLst/>
          </a:prstGeom>
          <a:noFill/>
        </p:spPr>
        <p:txBody>
          <a:bodyPr wrap="square">
            <a:spAutoFit/>
          </a:bodyPr>
          <a:lstStyle/>
          <a:p>
            <a:pPr>
              <a:spcAft>
                <a:spcPts val="400"/>
              </a:spcAft>
              <a:defRPr sz="1000" b="1">
                <a:solidFill>
                  <a:srgbClr val="F59E0B"/>
                </a:solidFill>
                <a:latin typeface="Arial"/>
              </a:defRPr>
            </a:pPr>
            <a:r>
              <a:t>PROBLEM 03</a:t>
            </a:r>
          </a:p>
          <a:p>
            <a:pPr>
              <a:spcAft>
                <a:spcPts val="800"/>
              </a:spcAft>
              <a:defRPr sz="1500" b="1">
                <a:solidFill>
                  <a:srgbClr val="F8FAFC"/>
                </a:solidFill>
                <a:latin typeface="Arial"/>
              </a:defRPr>
            </a:pPr>
            <a:r>
              <a:t>Polypharmacy &amp; Medication Errors</a:t>
            </a:r>
          </a:p>
          <a:p>
            <a:pPr>
              <a:lnSpc>
                <a:spcPct val="125000"/>
              </a:lnSpc>
              <a:defRPr sz="1200">
                <a:solidFill>
                  <a:srgbClr val="94A3B8"/>
                </a:solidFill>
                <a:latin typeface="Arial"/>
              </a:defRPr>
            </a:pPr>
            <a:r>
              <a:t>When visiting multiple specialists, patients rarely bring a comprehensive drug list. Overlooked drug-drug interactions, contraindications against allergies, and duplicate therapies cause preventable adverse drug events (ADEs).</a:t>
            </a:r>
          </a:p>
        </p:txBody>
      </p:sp>
      <p:sp>
        <p:nvSpPr>
          <p:cNvPr id="15" name="Rounded Rectangle 14"/>
          <p:cNvSpPr/>
          <p:nvPr/>
        </p:nvSpPr>
        <p:spPr>
          <a:xfrm>
            <a:off x="6217920" y="434340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343400"/>
            <a:ext cx="73152" cy="19202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480560"/>
            <a:ext cx="4892040" cy="1645920"/>
          </a:xfrm>
          <a:prstGeom prst="rect">
            <a:avLst/>
          </a:prstGeom>
          <a:noFill/>
        </p:spPr>
        <p:txBody>
          <a:bodyPr wrap="square">
            <a:spAutoFit/>
          </a:bodyPr>
          <a:lstStyle/>
          <a:p>
            <a:pPr>
              <a:spcAft>
                <a:spcPts val="400"/>
              </a:spcAft>
              <a:defRPr sz="1000" b="1">
                <a:solidFill>
                  <a:srgbClr val="F59E0B"/>
                </a:solidFill>
                <a:latin typeface="Arial"/>
              </a:defRPr>
            </a:pPr>
            <a:r>
              <a:t>PROBLEM 04</a:t>
            </a:r>
          </a:p>
          <a:p>
            <a:pPr>
              <a:spcAft>
                <a:spcPts val="800"/>
              </a:spcAft>
              <a:defRPr sz="1500" b="1">
                <a:solidFill>
                  <a:srgbClr val="F8FAFC"/>
                </a:solidFill>
                <a:latin typeface="Arial"/>
              </a:defRPr>
            </a:pPr>
            <a:r>
              <a:t>Lost Longitudinal Biomarkers</a:t>
            </a:r>
          </a:p>
          <a:p>
            <a:pPr>
              <a:lnSpc>
                <a:spcPct val="125000"/>
              </a:lnSpc>
              <a:defRPr sz="1200">
                <a:solidFill>
                  <a:srgbClr val="94A3B8"/>
                </a:solidFill>
                <a:latin typeface="Arial"/>
              </a:defRPr>
            </a:pPr>
            <a:r>
              <a:t>A single lab report tells only half the story. Tracking vital biomarker trajectories over years (e.g., eGFR, HbA1c, cholesterol, liver enzymes) is manual, tedious, and frequently ignored until acute symptoms appear.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2 OF 8  •  SOLUTION OVERVIEW</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Solution — MediMind AI Concierge</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Transforming chaotic medical documents into a structured, proactive health timeline</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800600" cy="1645920"/>
          </a:xfrm>
          <a:prstGeom prst="rect">
            <a:avLst/>
          </a:prstGeom>
          <a:noFill/>
        </p:spPr>
        <p:txBody>
          <a:bodyPr wrap="square">
            <a:spAutoFit/>
          </a:bodyPr>
          <a:lstStyle/>
          <a:p>
            <a:pPr>
              <a:spcAft>
                <a:spcPts val="400"/>
              </a:spcAft>
              <a:defRPr sz="1000" b="1">
                <a:solidFill>
                  <a:srgbClr val="10B981"/>
                </a:solidFill>
                <a:latin typeface="Arial"/>
              </a:defRPr>
            </a:pPr>
            <a:r>
              <a:t>VALUE 01</a:t>
            </a:r>
          </a:p>
          <a:p>
            <a:pPr>
              <a:spcAft>
                <a:spcPts val="800"/>
              </a:spcAft>
              <a:defRPr sz="1500" b="1">
                <a:solidFill>
                  <a:srgbClr val="F8FAFC"/>
                </a:solidFill>
                <a:latin typeface="Arial"/>
              </a:defRPr>
            </a:pPr>
            <a:r>
              <a:t>Intelligent Medical Concierge</a:t>
            </a:r>
          </a:p>
          <a:p>
            <a:pPr>
              <a:lnSpc>
                <a:spcPct val="125000"/>
              </a:lnSpc>
              <a:defRPr sz="1200">
                <a:solidFill>
                  <a:srgbClr val="94A3B8"/>
                </a:solidFill>
                <a:latin typeface="Arial"/>
              </a:defRPr>
            </a:pPr>
            <a:r>
              <a:t>An AI-powered, privacy-first platform that ingests unstructured medical documents and synthesizes them into an actionable health dashboard—bridging clinical documentation and patient understanding without losing medical precision.</a:t>
            </a:r>
          </a:p>
        </p:txBody>
      </p:sp>
      <p:sp>
        <p:nvSpPr>
          <p:cNvPr id="9" name="Rounded Rectangle 8"/>
          <p:cNvSpPr/>
          <p:nvPr/>
        </p:nvSpPr>
        <p:spPr>
          <a:xfrm>
            <a:off x="6217920" y="214884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14884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286000"/>
            <a:ext cx="4892040" cy="1645920"/>
          </a:xfrm>
          <a:prstGeom prst="rect">
            <a:avLst/>
          </a:prstGeom>
          <a:noFill/>
        </p:spPr>
        <p:txBody>
          <a:bodyPr wrap="square">
            <a:spAutoFit/>
          </a:bodyPr>
          <a:lstStyle/>
          <a:p>
            <a:pPr>
              <a:spcAft>
                <a:spcPts val="400"/>
              </a:spcAft>
              <a:defRPr sz="1000" b="1">
                <a:solidFill>
                  <a:srgbClr val="10B981"/>
                </a:solidFill>
                <a:latin typeface="Arial"/>
              </a:defRPr>
            </a:pPr>
            <a:r>
              <a:t>VALUE 02</a:t>
            </a:r>
          </a:p>
          <a:p>
            <a:pPr>
              <a:spcAft>
                <a:spcPts val="800"/>
              </a:spcAft>
              <a:defRPr sz="1500" b="1">
                <a:solidFill>
                  <a:srgbClr val="F8FAFC"/>
                </a:solidFill>
                <a:latin typeface="Arial"/>
              </a:defRPr>
            </a:pPr>
            <a:r>
              <a:t>Automated Structured Extraction</a:t>
            </a:r>
          </a:p>
          <a:p>
            <a:pPr>
              <a:lnSpc>
                <a:spcPct val="125000"/>
              </a:lnSpc>
              <a:defRPr sz="1200">
                <a:solidFill>
                  <a:srgbClr val="94A3B8"/>
                </a:solidFill>
                <a:latin typeface="Arial"/>
              </a:defRPr>
            </a:pPr>
            <a:r>
              <a:t>Upload any combination of prescriptions, lab reports, clinical notes, or discharge summaries. MediMind automatically categorizes documents and extracts structured entities (medications, lab biomarkers, diagnoses, and allergies).</a:t>
            </a:r>
          </a:p>
        </p:txBody>
      </p:sp>
      <p:sp>
        <p:nvSpPr>
          <p:cNvPr id="12" name="Rounded Rectangle 11"/>
          <p:cNvSpPr/>
          <p:nvPr/>
        </p:nvSpPr>
        <p:spPr>
          <a:xfrm>
            <a:off x="731520" y="434340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34340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4800600" cy="1645920"/>
          </a:xfrm>
          <a:prstGeom prst="rect">
            <a:avLst/>
          </a:prstGeom>
          <a:noFill/>
        </p:spPr>
        <p:txBody>
          <a:bodyPr wrap="square">
            <a:spAutoFit/>
          </a:bodyPr>
          <a:lstStyle/>
          <a:p>
            <a:pPr>
              <a:spcAft>
                <a:spcPts val="400"/>
              </a:spcAft>
              <a:defRPr sz="1000" b="1">
                <a:solidFill>
                  <a:srgbClr val="10B981"/>
                </a:solidFill>
                <a:latin typeface="Arial"/>
              </a:defRPr>
            </a:pPr>
            <a:r>
              <a:t>VALUE 03</a:t>
            </a:r>
          </a:p>
          <a:p>
            <a:pPr>
              <a:spcAft>
                <a:spcPts val="800"/>
              </a:spcAft>
              <a:defRPr sz="1500" b="1">
                <a:solidFill>
                  <a:srgbClr val="F8FAFC"/>
                </a:solidFill>
                <a:latin typeface="Arial"/>
              </a:defRPr>
            </a:pPr>
            <a:r>
              <a:t>Unified Longitudinal Timeline</a:t>
            </a:r>
          </a:p>
          <a:p>
            <a:pPr>
              <a:lnSpc>
                <a:spcPct val="125000"/>
              </a:lnSpc>
              <a:defRPr sz="1200">
                <a:solidFill>
                  <a:srgbClr val="94A3B8"/>
                </a:solidFill>
                <a:latin typeface="Arial"/>
              </a:defRPr>
            </a:pPr>
            <a:r>
              <a:t>Synthesizes isolated visits into a chronological health history. Every prescription, lab test, and physician encounter is linked into a unified patient timeline with full traceability back to original source documents.</a:t>
            </a:r>
          </a:p>
        </p:txBody>
      </p:sp>
      <p:sp>
        <p:nvSpPr>
          <p:cNvPr id="15" name="Rounded Rectangle 14"/>
          <p:cNvSpPr/>
          <p:nvPr/>
        </p:nvSpPr>
        <p:spPr>
          <a:xfrm>
            <a:off x="6217920" y="434340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34340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480560"/>
            <a:ext cx="4892040" cy="1645920"/>
          </a:xfrm>
          <a:prstGeom prst="rect">
            <a:avLst/>
          </a:prstGeom>
          <a:noFill/>
        </p:spPr>
        <p:txBody>
          <a:bodyPr wrap="square">
            <a:spAutoFit/>
          </a:bodyPr>
          <a:lstStyle/>
          <a:p>
            <a:pPr>
              <a:spcAft>
                <a:spcPts val="400"/>
              </a:spcAft>
              <a:defRPr sz="1000" b="1">
                <a:solidFill>
                  <a:srgbClr val="10B981"/>
                </a:solidFill>
                <a:latin typeface="Arial"/>
              </a:defRPr>
            </a:pPr>
            <a:r>
              <a:t>VALUE 04</a:t>
            </a:r>
          </a:p>
          <a:p>
            <a:pPr>
              <a:spcAft>
                <a:spcPts val="800"/>
              </a:spcAft>
              <a:defRPr sz="1500" b="1">
                <a:solidFill>
                  <a:srgbClr val="F8FAFC"/>
                </a:solidFill>
                <a:latin typeface="Arial"/>
              </a:defRPr>
            </a:pPr>
            <a:r>
              <a:t>Proactive Safety Cross-Checks</a:t>
            </a:r>
          </a:p>
          <a:p>
            <a:pPr>
              <a:lnSpc>
                <a:spcPct val="125000"/>
              </a:lnSpc>
              <a:defRPr sz="1200">
                <a:solidFill>
                  <a:srgbClr val="94A3B8"/>
                </a:solidFill>
                <a:latin typeface="Arial"/>
              </a:defRPr>
            </a:pPr>
            <a:r>
              <a:t>Continuously audits the patient's active medication list against known allergies, chronic conditions, and drug-drug interactions, while tracking lab biomarker trajectories to flag clinical abnormalities.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3 OF 8  •  DEEP CLINICAL INTELLIGENCE</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AI Core &amp; RAG Pipeline</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Multimodal OCR, structured JSON recovery ladders, and zero-network ONNX embeddings</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20116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063240" cy="1737360"/>
          </a:xfrm>
          <a:prstGeom prst="rect">
            <a:avLst/>
          </a:prstGeom>
          <a:noFill/>
        </p:spPr>
        <p:txBody>
          <a:bodyPr wrap="square">
            <a:spAutoFit/>
          </a:bodyPr>
          <a:lstStyle/>
          <a:p>
            <a:pPr>
              <a:spcAft>
                <a:spcPts val="400"/>
              </a:spcAft>
              <a:defRPr sz="1000" b="1">
                <a:solidFill>
                  <a:srgbClr val="06B6D4"/>
                </a:solidFill>
                <a:latin typeface="Arial"/>
              </a:defRPr>
            </a:pPr>
            <a:r>
              <a:t>1. OCR &amp; VISION</a:t>
            </a:r>
          </a:p>
          <a:p>
            <a:pPr>
              <a:spcAft>
                <a:spcPts val="800"/>
              </a:spcAft>
              <a:defRPr sz="1500" b="1">
                <a:solidFill>
                  <a:srgbClr val="F8FAFC"/>
                </a:solidFill>
                <a:latin typeface="Arial"/>
              </a:defRPr>
            </a:pPr>
            <a:r>
              <a:t>Multimodal Understanding</a:t>
            </a:r>
          </a:p>
          <a:p>
            <a:pPr>
              <a:lnSpc>
                <a:spcPct val="125000"/>
              </a:lnSpc>
              <a:defRPr sz="1200">
                <a:solidFill>
                  <a:srgbClr val="94A3B8"/>
                </a:solidFill>
                <a:latin typeface="Arial"/>
              </a:defRPr>
            </a:pPr>
            <a:r>
              <a:t>Combines native PDF parsing (PyMuPDF / pdfplumber) with multimodal vision models (qwen3.6-27b, gemini-3.6-flash) to decode handwritten notes, prescription photos, and hospital scans.</a:t>
            </a:r>
          </a:p>
        </p:txBody>
      </p:sp>
      <p:sp>
        <p:nvSpPr>
          <p:cNvPr id="9" name="Rounded Rectangle 8"/>
          <p:cNvSpPr/>
          <p:nvPr/>
        </p:nvSpPr>
        <p:spPr>
          <a:xfrm>
            <a:off x="4389120" y="214884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2148840"/>
            <a:ext cx="73152" cy="20116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286000"/>
            <a:ext cx="3063240" cy="1737360"/>
          </a:xfrm>
          <a:prstGeom prst="rect">
            <a:avLst/>
          </a:prstGeom>
          <a:noFill/>
        </p:spPr>
        <p:txBody>
          <a:bodyPr wrap="square">
            <a:spAutoFit/>
          </a:bodyPr>
          <a:lstStyle/>
          <a:p>
            <a:pPr>
              <a:spcAft>
                <a:spcPts val="400"/>
              </a:spcAft>
              <a:defRPr sz="1000" b="1">
                <a:solidFill>
                  <a:srgbClr val="06B6D4"/>
                </a:solidFill>
                <a:latin typeface="Arial"/>
              </a:defRPr>
            </a:pPr>
            <a:r>
              <a:t>2. LLM EXTRACTION</a:t>
            </a:r>
          </a:p>
          <a:p>
            <a:pPr>
              <a:spcAft>
                <a:spcPts val="800"/>
              </a:spcAft>
              <a:defRPr sz="1500" b="1">
                <a:solidFill>
                  <a:srgbClr val="F8FAFC"/>
                </a:solidFill>
                <a:latin typeface="Arial"/>
              </a:defRPr>
            </a:pPr>
            <a:r>
              <a:t>Resilient JSON Ladder</a:t>
            </a:r>
          </a:p>
          <a:p>
            <a:pPr>
              <a:lnSpc>
                <a:spcPct val="125000"/>
              </a:lnSpc>
              <a:defRPr sz="1200">
                <a:solidFill>
                  <a:srgbClr val="94A3B8"/>
                </a:solidFill>
                <a:latin typeface="Arial"/>
              </a:defRPr>
            </a:pPr>
            <a:r>
              <a:t>Multi-rung structured decoding ladder (_completion_resilient). Uses constrained JSON Schema with automated &lt;think&gt; reasoning-tag suppression probes and an OpenRouter auto-fallback circuit breaker.</a:t>
            </a:r>
          </a:p>
        </p:txBody>
      </p:sp>
      <p:sp>
        <p:nvSpPr>
          <p:cNvPr id="12" name="Rounded Rectangle 11"/>
          <p:cNvSpPr/>
          <p:nvPr/>
        </p:nvSpPr>
        <p:spPr>
          <a:xfrm>
            <a:off x="8046720" y="214884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2148840"/>
            <a:ext cx="73152" cy="20116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286000"/>
            <a:ext cx="3063240" cy="1737360"/>
          </a:xfrm>
          <a:prstGeom prst="rect">
            <a:avLst/>
          </a:prstGeom>
          <a:noFill/>
        </p:spPr>
        <p:txBody>
          <a:bodyPr wrap="square">
            <a:spAutoFit/>
          </a:bodyPr>
          <a:lstStyle/>
          <a:p>
            <a:pPr>
              <a:spcAft>
                <a:spcPts val="400"/>
              </a:spcAft>
              <a:defRPr sz="1000" b="1">
                <a:solidFill>
                  <a:srgbClr val="06B6D4"/>
                </a:solidFill>
                <a:latin typeface="Arial"/>
              </a:defRPr>
            </a:pPr>
            <a:r>
              <a:t>3. LOCAL RAG</a:t>
            </a:r>
          </a:p>
          <a:p>
            <a:pPr>
              <a:spcAft>
                <a:spcPts val="800"/>
              </a:spcAft>
              <a:defRPr sz="1500" b="1">
                <a:solidFill>
                  <a:srgbClr val="F8FAFC"/>
                </a:solidFill>
                <a:latin typeface="Arial"/>
              </a:defRPr>
            </a:pPr>
            <a:r>
              <a:t>Zero-Network Embeddings</a:t>
            </a:r>
          </a:p>
          <a:p>
            <a:pPr>
              <a:lnSpc>
                <a:spcPct val="125000"/>
              </a:lnSpc>
              <a:defRPr sz="1200">
                <a:solidFill>
                  <a:srgbClr val="94A3B8"/>
                </a:solidFill>
                <a:latin typeface="Arial"/>
              </a:defRPr>
            </a:pPr>
            <a:r>
              <a:t>Runs all-MiniLM-L6-v2 locally in-process via ONNX Runtime—no external embedding network calls required. Embeds structured timeline chunks in ChromaDB for hallucination-free Q&amp;A.</a:t>
            </a:r>
          </a:p>
        </p:txBody>
      </p:sp>
      <p:sp>
        <p:nvSpPr>
          <p:cNvPr id="15" name="Rounded Rectangle 14"/>
          <p:cNvSpPr/>
          <p:nvPr/>
        </p:nvSpPr>
        <p:spPr>
          <a:xfrm>
            <a:off x="731520" y="434340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34340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80560"/>
            <a:ext cx="4800600" cy="1645920"/>
          </a:xfrm>
          <a:prstGeom prst="rect">
            <a:avLst/>
          </a:prstGeom>
          <a:noFill/>
        </p:spPr>
        <p:txBody>
          <a:bodyPr wrap="square">
            <a:spAutoFit/>
          </a:bodyPr>
          <a:lstStyle/>
          <a:p>
            <a:pPr>
              <a:spcAft>
                <a:spcPts val="400"/>
              </a:spcAft>
              <a:defRPr sz="1000" b="1">
                <a:solidFill>
                  <a:srgbClr val="06B6D4"/>
                </a:solidFill>
                <a:latin typeface="Arial"/>
              </a:defRPr>
            </a:pPr>
            <a:r>
              <a:t>4. CLINICAL EXTRACTION</a:t>
            </a:r>
          </a:p>
          <a:p>
            <a:pPr>
              <a:spcAft>
                <a:spcPts val="800"/>
              </a:spcAft>
              <a:defRPr sz="1500" b="1">
                <a:solidFill>
                  <a:srgbClr val="F8FAFC"/>
                </a:solidFill>
                <a:latin typeface="Arial"/>
              </a:defRPr>
            </a:pPr>
            <a:r>
              <a:t>Structured Health Entity Schema</a:t>
            </a:r>
          </a:p>
          <a:p>
            <a:pPr>
              <a:lnSpc>
                <a:spcPct val="125000"/>
              </a:lnSpc>
              <a:defRPr sz="1200">
                <a:solidFill>
                  <a:srgbClr val="94A3B8"/>
                </a:solidFill>
                <a:latin typeface="Arial"/>
              </a:defRPr>
            </a:pPr>
            <a:r>
              <a:t>Constrained Pydantic schemas normalize every document into strict JSON: active medications with dosages and timing, lab biomarker panels with reference units, clinical diagnoses, and verified allergy lists.</a:t>
            </a:r>
          </a:p>
        </p:txBody>
      </p:sp>
      <p:sp>
        <p:nvSpPr>
          <p:cNvPr id="18" name="Rounded Rectangle 17"/>
          <p:cNvSpPr/>
          <p:nvPr/>
        </p:nvSpPr>
        <p:spPr>
          <a:xfrm>
            <a:off x="6217920" y="434340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434340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480560"/>
            <a:ext cx="4892040" cy="1645920"/>
          </a:xfrm>
          <a:prstGeom prst="rect">
            <a:avLst/>
          </a:prstGeom>
          <a:noFill/>
        </p:spPr>
        <p:txBody>
          <a:bodyPr wrap="square">
            <a:spAutoFit/>
          </a:bodyPr>
          <a:lstStyle/>
          <a:p>
            <a:pPr>
              <a:spcAft>
                <a:spcPts val="400"/>
              </a:spcAft>
              <a:defRPr sz="1000" b="1">
                <a:solidFill>
                  <a:srgbClr val="06B6D4"/>
                </a:solidFill>
                <a:latin typeface="Arial"/>
              </a:defRPr>
            </a:pPr>
            <a:r>
              <a:t>5. SAFETY ENGINE</a:t>
            </a:r>
          </a:p>
          <a:p>
            <a:pPr>
              <a:spcAft>
                <a:spcPts val="800"/>
              </a:spcAft>
              <a:defRPr sz="1500" b="1">
                <a:solidFill>
                  <a:srgbClr val="F8FAFC"/>
                </a:solidFill>
                <a:latin typeface="Arial"/>
              </a:defRPr>
            </a:pPr>
            <a:r>
              <a:t>Automated Clinical Safety Audit</a:t>
            </a:r>
          </a:p>
          <a:p>
            <a:pPr>
              <a:lnSpc>
                <a:spcPct val="125000"/>
              </a:lnSpc>
              <a:defRPr sz="1200">
                <a:solidFill>
                  <a:srgbClr val="94A3B8"/>
                </a:solidFill>
                <a:latin typeface="Arial"/>
              </a:defRPr>
            </a:pPr>
            <a:r>
              <a:t>Runs automated polypharmacy audits (cross_check_prescriptions) coded by severity (High / Moderate / Precaution) and tracks longitudinal lab biomarker percentage shifts (track_lab_trends).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4 OF 8  •  PRODUCT CAPABILITIES</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Key Features &amp; Comprehensive Suite</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A complete suite empowering patients and caregivers to take control of their medical history</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1</a:t>
            </a:r>
          </a:p>
          <a:p>
            <a:pPr>
              <a:spcAft>
                <a:spcPts val="800"/>
              </a:spcAft>
              <a:defRPr sz="1500" b="1">
                <a:solidFill>
                  <a:srgbClr val="F8FAFC"/>
                </a:solidFill>
                <a:latin typeface="Arial"/>
              </a:defRPr>
            </a:pPr>
            <a:r>
              <a:t>Async Document Upload</a:t>
            </a:r>
          </a:p>
          <a:p>
            <a:pPr>
              <a:lnSpc>
                <a:spcPct val="125000"/>
              </a:lnSpc>
              <a:defRPr sz="1200">
                <a:solidFill>
                  <a:srgbClr val="94A3B8"/>
                </a:solidFill>
                <a:latin typeface="Arial"/>
              </a:defRPr>
            </a:pPr>
            <a:r>
              <a:t>Drag-and-drop batch upload for PDFs, PNGs, and JPGs. Non-blocking background worker pool (/api/v1/documents?async=true) with real-time job progress tracking.</a:t>
            </a:r>
          </a:p>
        </p:txBody>
      </p:sp>
      <p:sp>
        <p:nvSpPr>
          <p:cNvPr id="9" name="Rounded Rectangle 8"/>
          <p:cNvSpPr/>
          <p:nvPr/>
        </p:nvSpPr>
        <p:spPr>
          <a:xfrm>
            <a:off x="4389120" y="214884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214884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28600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2</a:t>
            </a:r>
          </a:p>
          <a:p>
            <a:pPr>
              <a:spcAft>
                <a:spcPts val="800"/>
              </a:spcAft>
              <a:defRPr sz="1500" b="1">
                <a:solidFill>
                  <a:srgbClr val="F8FAFC"/>
                </a:solidFill>
                <a:latin typeface="Arial"/>
              </a:defRPr>
            </a:pPr>
            <a:r>
              <a:t>Report Extraction</a:t>
            </a:r>
          </a:p>
          <a:p>
            <a:pPr>
              <a:lnSpc>
                <a:spcPct val="125000"/>
              </a:lnSpc>
              <a:defRPr sz="1200">
                <a:solidFill>
                  <a:srgbClr val="94A3B8"/>
                </a:solidFill>
                <a:latin typeface="Arial"/>
              </a:defRPr>
            </a:pPr>
            <a:r>
              <a:t>Automatic document classification and structured extraction of medicine dosages, frequencies, lab biomarkers, reference ranges, and doctor notes.</a:t>
            </a:r>
          </a:p>
        </p:txBody>
      </p:sp>
      <p:sp>
        <p:nvSpPr>
          <p:cNvPr id="12" name="Rounded Rectangle 11"/>
          <p:cNvSpPr/>
          <p:nvPr/>
        </p:nvSpPr>
        <p:spPr>
          <a:xfrm>
            <a:off x="8046720" y="214884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214884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28600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3</a:t>
            </a:r>
          </a:p>
          <a:p>
            <a:pPr>
              <a:spcAft>
                <a:spcPts val="800"/>
              </a:spcAft>
              <a:defRPr sz="1500" b="1">
                <a:solidFill>
                  <a:srgbClr val="F8FAFC"/>
                </a:solidFill>
                <a:latin typeface="Arial"/>
              </a:defRPr>
            </a:pPr>
            <a:r>
              <a:t>Patient Timeline</a:t>
            </a:r>
          </a:p>
          <a:p>
            <a:pPr>
              <a:lnSpc>
                <a:spcPct val="125000"/>
              </a:lnSpc>
              <a:defRPr sz="1200">
                <a:solidFill>
                  <a:srgbClr val="94A3B8"/>
                </a:solidFill>
                <a:latin typeface="Arial"/>
              </a:defRPr>
            </a:pPr>
            <a:r>
              <a:t>Interactive chronological health history (TimelineView.tsx) unifying all past visits, prescriptions, and test results with source PDF links.</a:t>
            </a:r>
          </a:p>
        </p:txBody>
      </p:sp>
      <p:sp>
        <p:nvSpPr>
          <p:cNvPr id="15" name="Rounded Rectangle 14"/>
          <p:cNvSpPr/>
          <p:nvPr/>
        </p:nvSpPr>
        <p:spPr>
          <a:xfrm>
            <a:off x="731520" y="434340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34340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8056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4</a:t>
            </a:r>
          </a:p>
          <a:p>
            <a:pPr>
              <a:spcAft>
                <a:spcPts val="800"/>
              </a:spcAft>
              <a:defRPr sz="1500" b="1">
                <a:solidFill>
                  <a:srgbClr val="F8FAFC"/>
                </a:solidFill>
                <a:latin typeface="Arial"/>
              </a:defRPr>
            </a:pPr>
            <a:r>
              <a:t>Medicine History</a:t>
            </a:r>
          </a:p>
          <a:p>
            <a:pPr>
              <a:lnSpc>
                <a:spcPct val="125000"/>
              </a:lnSpc>
              <a:defRPr sz="1200">
                <a:solidFill>
                  <a:srgbClr val="94A3B8"/>
                </a:solidFill>
                <a:latin typeface="Arial"/>
              </a:defRPr>
            </a:pPr>
            <a:r>
              <a:t>Consolidated medication dashboard separating active prescriptions from historical treatments, showing dosages, start/end dates, and adherence context.</a:t>
            </a:r>
          </a:p>
        </p:txBody>
      </p:sp>
      <p:sp>
        <p:nvSpPr>
          <p:cNvPr id="18" name="Rounded Rectangle 17"/>
          <p:cNvSpPr/>
          <p:nvPr/>
        </p:nvSpPr>
        <p:spPr>
          <a:xfrm>
            <a:off x="4389120" y="434340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20" y="434340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48056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5</a:t>
            </a:r>
          </a:p>
          <a:p>
            <a:pPr>
              <a:spcAft>
                <a:spcPts val="800"/>
              </a:spcAft>
              <a:defRPr sz="1500" b="1">
                <a:solidFill>
                  <a:srgbClr val="F8FAFC"/>
                </a:solidFill>
                <a:latin typeface="Arial"/>
              </a:defRPr>
            </a:pPr>
            <a:r>
              <a:t>Safety Cross-Checks</a:t>
            </a:r>
          </a:p>
          <a:p>
            <a:pPr>
              <a:lnSpc>
                <a:spcPct val="125000"/>
              </a:lnSpc>
              <a:defRPr sz="1200">
                <a:solidFill>
                  <a:srgbClr val="94A3B8"/>
                </a:solidFill>
                <a:latin typeface="Arial"/>
              </a:defRPr>
            </a:pPr>
            <a:r>
              <a:t>Dedicated Cross-Check Safety Report (CrossCheckView.tsx) flagging polypharmacy drug-drug interactions, allergy warnings, and organ precautions.</a:t>
            </a:r>
          </a:p>
        </p:txBody>
      </p:sp>
      <p:sp>
        <p:nvSpPr>
          <p:cNvPr id="21" name="Rounded Rectangle 20"/>
          <p:cNvSpPr/>
          <p:nvPr/>
        </p:nvSpPr>
        <p:spPr>
          <a:xfrm>
            <a:off x="8046720" y="4343400"/>
            <a:ext cx="3383280"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0" y="4343400"/>
            <a:ext cx="73152" cy="1965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4480560"/>
            <a:ext cx="3063240" cy="1691640"/>
          </a:xfrm>
          <a:prstGeom prst="rect">
            <a:avLst/>
          </a:prstGeom>
          <a:noFill/>
        </p:spPr>
        <p:txBody>
          <a:bodyPr wrap="square">
            <a:spAutoFit/>
          </a:bodyPr>
          <a:lstStyle/>
          <a:p>
            <a:pPr>
              <a:spcAft>
                <a:spcPts val="400"/>
              </a:spcAft>
              <a:defRPr sz="1000" b="1">
                <a:solidFill>
                  <a:srgbClr val="06B6D4"/>
                </a:solidFill>
                <a:latin typeface="Arial"/>
              </a:defRPr>
            </a:pPr>
            <a:r>
              <a:t>FEATURE 6</a:t>
            </a:r>
          </a:p>
          <a:p>
            <a:pPr>
              <a:spcAft>
                <a:spcPts val="800"/>
              </a:spcAft>
              <a:defRPr sz="1500" b="1">
                <a:solidFill>
                  <a:srgbClr val="F8FAFC"/>
                </a:solidFill>
                <a:latin typeface="Arial"/>
              </a:defRPr>
            </a:pPr>
            <a:r>
              <a:t>Conversational AI Q&amp;A</a:t>
            </a:r>
          </a:p>
          <a:p>
            <a:pPr>
              <a:lnSpc>
                <a:spcPct val="125000"/>
              </a:lnSpc>
              <a:defRPr sz="1200">
                <a:solidFill>
                  <a:srgbClr val="94A3B8"/>
                </a:solidFill>
                <a:latin typeface="Arial"/>
              </a:defRPr>
            </a:pPr>
            <a:r>
              <a:t>Multi-turn conversational concierge (conversation.py) with history query rewriting to answer natural language questions against stored medical facts.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5 OF 8  •  PRODUCTION-READY ENGINEERING</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System Architecture</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Modular, scalable, privacy-first full-stack TypeScript &amp; Python architecture</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800600" cy="1645920"/>
          </a:xfrm>
          <a:prstGeom prst="rect">
            <a:avLst/>
          </a:prstGeom>
          <a:noFill/>
        </p:spPr>
        <p:txBody>
          <a:bodyPr wrap="square">
            <a:spAutoFit/>
          </a:bodyPr>
          <a:lstStyle/>
          <a:p>
            <a:pPr>
              <a:spcAft>
                <a:spcPts val="400"/>
              </a:spcAft>
              <a:defRPr sz="1000" b="1">
                <a:solidFill>
                  <a:srgbClr val="06B6D4"/>
                </a:solidFill>
                <a:latin typeface="Arial"/>
              </a:defRPr>
            </a:pPr>
            <a:r>
              <a:t>FRONTEND SPA</a:t>
            </a:r>
          </a:p>
          <a:p>
            <a:pPr>
              <a:spcAft>
                <a:spcPts val="800"/>
              </a:spcAft>
              <a:defRPr sz="1500" b="1">
                <a:solidFill>
                  <a:srgbClr val="F8FAFC"/>
                </a:solidFill>
                <a:latin typeface="Arial"/>
              </a:defRPr>
            </a:pPr>
            <a:r>
              <a:t>React 18 + Vite + TypeScript</a:t>
            </a:r>
          </a:p>
          <a:p>
            <a:pPr>
              <a:lnSpc>
                <a:spcPct val="125000"/>
              </a:lnSpc>
              <a:defRPr sz="1200">
                <a:solidFill>
                  <a:srgbClr val="94A3B8"/>
                </a:solidFill>
                <a:latin typeface="Arial"/>
              </a:defRPr>
            </a:pPr>
            <a:r>
              <a:t>Responsive SPA built with Tailwind CSS, modular UI components, real-time polling custom hooks (useApi.ts), and clear processing status indicators.</a:t>
            </a:r>
          </a:p>
        </p:txBody>
      </p:sp>
      <p:sp>
        <p:nvSpPr>
          <p:cNvPr id="9" name="Rounded Rectangle 8"/>
          <p:cNvSpPr/>
          <p:nvPr/>
        </p:nvSpPr>
        <p:spPr>
          <a:xfrm>
            <a:off x="6217920" y="214884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14884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286000"/>
            <a:ext cx="4892040" cy="1645920"/>
          </a:xfrm>
          <a:prstGeom prst="rect">
            <a:avLst/>
          </a:prstGeom>
          <a:noFill/>
        </p:spPr>
        <p:txBody>
          <a:bodyPr wrap="square">
            <a:spAutoFit/>
          </a:bodyPr>
          <a:lstStyle/>
          <a:p>
            <a:pPr>
              <a:spcAft>
                <a:spcPts val="400"/>
              </a:spcAft>
              <a:defRPr sz="1000" b="1">
                <a:solidFill>
                  <a:srgbClr val="06B6D4"/>
                </a:solidFill>
                <a:latin typeface="Arial"/>
              </a:defRPr>
            </a:pPr>
            <a:r>
              <a:t>BACKEND API</a:t>
            </a:r>
          </a:p>
          <a:p>
            <a:pPr>
              <a:spcAft>
                <a:spcPts val="800"/>
              </a:spcAft>
              <a:defRPr sz="1500" b="1">
                <a:solidFill>
                  <a:srgbClr val="F8FAFC"/>
                </a:solidFill>
                <a:latin typeface="Arial"/>
              </a:defRPr>
            </a:pPr>
            <a:r>
              <a:t>FastAPI + Uvicorn Async Python</a:t>
            </a:r>
          </a:p>
          <a:p>
            <a:pPr>
              <a:lnSpc>
                <a:spcPct val="125000"/>
              </a:lnSpc>
              <a:defRPr sz="1200">
                <a:solidFill>
                  <a:srgbClr val="94A3B8"/>
                </a:solidFill>
                <a:latin typeface="Arial"/>
              </a:defRPr>
            </a:pPr>
            <a:r>
              <a:t>Clean modular services: api.py (routes &amp; auth), medical_extractor.py (LLM &amp; safety ladder), retrieval.py (ONNX RAG), and conversation.py (chat memory).</a:t>
            </a:r>
          </a:p>
        </p:txBody>
      </p:sp>
      <p:sp>
        <p:nvSpPr>
          <p:cNvPr id="12" name="Rounded Rectangle 11"/>
          <p:cNvSpPr/>
          <p:nvPr/>
        </p:nvSpPr>
        <p:spPr>
          <a:xfrm>
            <a:off x="731520" y="434340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34340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4800600" cy="1645920"/>
          </a:xfrm>
          <a:prstGeom prst="rect">
            <a:avLst/>
          </a:prstGeom>
          <a:noFill/>
        </p:spPr>
        <p:txBody>
          <a:bodyPr wrap="square">
            <a:spAutoFit/>
          </a:bodyPr>
          <a:lstStyle/>
          <a:p>
            <a:pPr>
              <a:spcAft>
                <a:spcPts val="400"/>
              </a:spcAft>
              <a:defRPr sz="1000" b="1">
                <a:solidFill>
                  <a:srgbClr val="06B6D4"/>
                </a:solidFill>
                <a:latin typeface="Arial"/>
              </a:defRPr>
            </a:pPr>
            <a:r>
              <a:t>DATABASE &amp; STORAGE</a:t>
            </a:r>
          </a:p>
          <a:p>
            <a:pPr>
              <a:spcAft>
                <a:spcPts val="800"/>
              </a:spcAft>
              <a:defRPr sz="1500" b="1">
                <a:solidFill>
                  <a:srgbClr val="F8FAFC"/>
                </a:solidFill>
                <a:latin typeface="Arial"/>
              </a:defRPr>
            </a:pPr>
            <a:r>
              <a:t>Supabase Postgres + Cloudinary</a:t>
            </a:r>
          </a:p>
          <a:p>
            <a:pPr>
              <a:lnSpc>
                <a:spcPct val="125000"/>
              </a:lnSpc>
              <a:defRPr sz="1200">
                <a:solidFill>
                  <a:srgbClr val="94A3B8"/>
                </a:solidFill>
                <a:latin typeface="Arial"/>
              </a:defRPr>
            </a:pPr>
            <a:r>
              <a:t>Supabase relational tables (patient_snapshots, jobs, chunks) with anonymized token scopes (anon_*) + Cloudinary encrypted cloud storage for source PDFs.</a:t>
            </a:r>
          </a:p>
        </p:txBody>
      </p:sp>
      <p:sp>
        <p:nvSpPr>
          <p:cNvPr id="15" name="Rounded Rectangle 14"/>
          <p:cNvSpPr/>
          <p:nvPr/>
        </p:nvSpPr>
        <p:spPr>
          <a:xfrm>
            <a:off x="6217920" y="434340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4343400"/>
            <a:ext cx="73152" cy="19202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480560"/>
            <a:ext cx="4892040" cy="1645920"/>
          </a:xfrm>
          <a:prstGeom prst="rect">
            <a:avLst/>
          </a:prstGeom>
          <a:noFill/>
        </p:spPr>
        <p:txBody>
          <a:bodyPr wrap="square">
            <a:spAutoFit/>
          </a:bodyPr>
          <a:lstStyle/>
          <a:p>
            <a:pPr>
              <a:spcAft>
                <a:spcPts val="400"/>
              </a:spcAft>
              <a:defRPr sz="1000" b="1">
                <a:solidFill>
                  <a:srgbClr val="06B6D4"/>
                </a:solidFill>
                <a:latin typeface="Arial"/>
              </a:defRPr>
            </a:pPr>
            <a:r>
              <a:t>EXTERNAL AI SERVICES</a:t>
            </a:r>
          </a:p>
          <a:p>
            <a:pPr>
              <a:spcAft>
                <a:spcPts val="800"/>
              </a:spcAft>
              <a:defRPr sz="1500" b="1">
                <a:solidFill>
                  <a:srgbClr val="F8FAFC"/>
                </a:solidFill>
                <a:latin typeface="Arial"/>
              </a:defRPr>
            </a:pPr>
            <a:r>
              <a:t>Groq + Gemini + OpenRouter Fallback</a:t>
            </a:r>
          </a:p>
          <a:p>
            <a:pPr>
              <a:lnSpc>
                <a:spcPct val="125000"/>
              </a:lnSpc>
              <a:defRPr sz="1200">
                <a:solidFill>
                  <a:srgbClr val="94A3B8"/>
                </a:solidFill>
                <a:latin typeface="Arial"/>
              </a:defRPr>
            </a:pPr>
            <a:r>
              <a:t>Universal OpenAI SDK wrapper supporting Groq (gpt-oss-120b, qwen3.6-27b), Google Gemini 3.6-Flash, and automated OpenRouter circuit-breaker fallback.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6 OF 8  •  STEP-BY-STEP JOURNEY</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Demo / User Flow</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How MediMind processes 6 mixed medical files into instant clinical intelligence</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10698480" cy="1645920"/>
          </a:xfrm>
          <a:prstGeom prst="roundRect">
            <a:avLst/>
          </a:prstGeom>
          <a:solidFill>
            <a:srgbClr val="090E1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06B6D4"/>
                </a:solidFill>
                <a:latin typeface="Courier New"/>
              </a:defRPr>
            </a:pPr>
            <a:r>
              <a:t>   [ 1. UPLOAD DOCUMENTS ]   -----&gt;   [ 2. OCR / VISION ]   -----&gt;   [ 3. AI RESILIENT LADDER ]   </a:t>
            </a:r>
          </a:p>
          <a:p>
            <a:pPr algn="ctr">
              <a:defRPr sz="1400" b="1">
                <a:solidFill>
                  <a:srgbClr val="F8FAFC"/>
                </a:solidFill>
                <a:latin typeface="Courier New"/>
              </a:defRPr>
            </a:pPr>
            <a:r>
              <a:t>   [ 4. STRUCTURED POSTGRES DATA ]   -----&gt;   [ 5. TIMELINE / MEDS / SAFETY ALERTS / RAG CHAT ]   </a:t>
            </a:r>
          </a:p>
        </p:txBody>
      </p:sp>
      <p:sp>
        <p:nvSpPr>
          <p:cNvPr id="7" name="Rounded Rectangle 6"/>
          <p:cNvSpPr/>
          <p:nvPr/>
        </p:nvSpPr>
        <p:spPr>
          <a:xfrm>
            <a:off x="731520" y="4114800"/>
            <a:ext cx="512064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4114800"/>
            <a:ext cx="73152" cy="21488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800600" cy="1874520"/>
          </a:xfrm>
          <a:prstGeom prst="rect">
            <a:avLst/>
          </a:prstGeom>
          <a:noFill/>
        </p:spPr>
        <p:txBody>
          <a:bodyPr wrap="square">
            <a:spAutoFit/>
          </a:bodyPr>
          <a:lstStyle/>
          <a:p>
            <a:pPr>
              <a:spcAft>
                <a:spcPts val="400"/>
              </a:spcAft>
              <a:defRPr sz="1000" b="1">
                <a:solidFill>
                  <a:srgbClr val="06B6D4"/>
                </a:solidFill>
                <a:latin typeface="Arial"/>
              </a:defRPr>
            </a:pPr>
            <a:r>
              <a:t>STEP 01-03</a:t>
            </a:r>
          </a:p>
          <a:p>
            <a:pPr>
              <a:spcAft>
                <a:spcPts val="800"/>
              </a:spcAft>
              <a:defRPr sz="1500" b="1">
                <a:solidFill>
                  <a:srgbClr val="F8FAFC"/>
                </a:solidFill>
                <a:latin typeface="Arial"/>
              </a:defRPr>
            </a:pPr>
            <a:r>
              <a:t>Asynchronous Worker Processing</a:t>
            </a:r>
          </a:p>
          <a:p>
            <a:pPr>
              <a:lnSpc>
                <a:spcPct val="125000"/>
              </a:lnSpc>
              <a:defRPr sz="1200">
                <a:solidFill>
                  <a:srgbClr val="94A3B8"/>
                </a:solidFill>
                <a:latin typeface="Arial"/>
              </a:defRPr>
            </a:pPr>
            <a:r>
              <a:t>When a patient uploads 6 files, the server returns immediately with HTTP 202 Accepted. Background worker tasks read, extract, and index documents concurrently without blocking the UI.</a:t>
            </a:r>
          </a:p>
        </p:txBody>
      </p:sp>
      <p:sp>
        <p:nvSpPr>
          <p:cNvPr id="10" name="Rounded Rectangle 9"/>
          <p:cNvSpPr/>
          <p:nvPr/>
        </p:nvSpPr>
        <p:spPr>
          <a:xfrm>
            <a:off x="6217920" y="4114800"/>
            <a:ext cx="5212080" cy="2148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4114800"/>
            <a:ext cx="73152" cy="21488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92040" cy="1874520"/>
          </a:xfrm>
          <a:prstGeom prst="rect">
            <a:avLst/>
          </a:prstGeom>
          <a:noFill/>
        </p:spPr>
        <p:txBody>
          <a:bodyPr wrap="square">
            <a:spAutoFit/>
          </a:bodyPr>
          <a:lstStyle/>
          <a:p>
            <a:pPr>
              <a:spcAft>
                <a:spcPts val="400"/>
              </a:spcAft>
              <a:defRPr sz="1000" b="1">
                <a:solidFill>
                  <a:srgbClr val="06B6D4"/>
                </a:solidFill>
                <a:latin typeface="Arial"/>
              </a:defRPr>
            </a:pPr>
            <a:r>
              <a:t>STEP 04-05</a:t>
            </a:r>
          </a:p>
          <a:p>
            <a:pPr>
              <a:spcAft>
                <a:spcPts val="800"/>
              </a:spcAft>
              <a:defRPr sz="1500" b="1">
                <a:solidFill>
                  <a:srgbClr val="F8FAFC"/>
                </a:solidFill>
                <a:latin typeface="Arial"/>
              </a:defRPr>
            </a:pPr>
            <a:r>
              <a:t>Instant Actionable Dashboard</a:t>
            </a:r>
          </a:p>
          <a:p>
            <a:pPr>
              <a:lnSpc>
                <a:spcPct val="125000"/>
              </a:lnSpc>
              <a:defRPr sz="1200">
                <a:solidFill>
                  <a:srgbClr val="94A3B8"/>
                </a:solidFill>
                <a:latin typeface="Arial"/>
              </a:defRPr>
            </a:pPr>
            <a:r>
              <a:t>Once complete, the dashboard refreshes automatically to reveal active medications, severity-graded cross-check warnings, interactive lab biomarker graphs, and an AI chat assistant ready for Q&amp;A.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7 OF 8  •  DIFFERENTIATING VALUE</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Innovation &amp; Real-World Impact</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Why MediMind stands out in medical AI and who it transforms</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338328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4114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063240" cy="3840480"/>
          </a:xfrm>
          <a:prstGeom prst="rect">
            <a:avLst/>
          </a:prstGeom>
          <a:noFill/>
        </p:spPr>
        <p:txBody>
          <a:bodyPr wrap="square">
            <a:spAutoFit/>
          </a:bodyPr>
          <a:lstStyle/>
          <a:p>
            <a:pPr>
              <a:spcAft>
                <a:spcPts val="400"/>
              </a:spcAft>
              <a:defRPr sz="1000" b="1">
                <a:solidFill>
                  <a:srgbClr val="06B6D4"/>
                </a:solidFill>
                <a:latin typeface="Arial"/>
              </a:defRPr>
            </a:pPr>
            <a:r>
              <a:t>INNOVATION</a:t>
            </a:r>
          </a:p>
          <a:p>
            <a:pPr>
              <a:spcAft>
                <a:spcPts val="800"/>
              </a:spcAft>
              <a:defRPr sz="1500" b="1">
                <a:solidFill>
                  <a:srgbClr val="F8FAFC"/>
                </a:solidFill>
                <a:latin typeface="Arial"/>
              </a:defRPr>
            </a:pPr>
            <a:r>
              <a:t>100% Resilient AI Pipeline</a:t>
            </a:r>
          </a:p>
          <a:p>
            <a:pPr>
              <a:lnSpc>
                <a:spcPct val="125000"/>
              </a:lnSpc>
              <a:defRPr sz="1200">
                <a:solidFill>
                  <a:srgbClr val="94A3B8"/>
                </a:solidFill>
                <a:latin typeface="Arial"/>
              </a:defRPr>
            </a:pPr>
            <a:r>
              <a:t>Unlike generic AI wrappers that crash on &lt;think&gt; tags or rate limits, MediMind features automated reasoning suppression probes and an auto-activated OpenRouter hard-quota fallback.</a:t>
            </a:r>
            <a:br/>
            <a:br/>
            <a:r>
              <a:t>Runs zero-network local ONNX embeddings (all-MiniLM-L6-v2) to protect patient privacy.</a:t>
            </a:r>
          </a:p>
        </p:txBody>
      </p:sp>
      <p:sp>
        <p:nvSpPr>
          <p:cNvPr id="9" name="Rounded Rectangle 8"/>
          <p:cNvSpPr/>
          <p:nvPr/>
        </p:nvSpPr>
        <p:spPr>
          <a:xfrm>
            <a:off x="4389120" y="2148840"/>
            <a:ext cx="338328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2148840"/>
            <a:ext cx="73152" cy="4114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286000"/>
            <a:ext cx="3063240" cy="3840480"/>
          </a:xfrm>
          <a:prstGeom prst="rect">
            <a:avLst/>
          </a:prstGeom>
          <a:noFill/>
        </p:spPr>
        <p:txBody>
          <a:bodyPr wrap="square">
            <a:spAutoFit/>
          </a:bodyPr>
          <a:lstStyle/>
          <a:p>
            <a:pPr>
              <a:spcAft>
                <a:spcPts val="400"/>
              </a:spcAft>
              <a:defRPr sz="1000" b="1">
                <a:solidFill>
                  <a:srgbClr val="06B6D4"/>
                </a:solidFill>
                <a:latin typeface="Arial"/>
              </a:defRPr>
            </a:pPr>
            <a:r>
              <a:t>WHO BENEFITS</a:t>
            </a:r>
          </a:p>
          <a:p>
            <a:pPr>
              <a:spcAft>
                <a:spcPts val="800"/>
              </a:spcAft>
              <a:defRPr sz="1500" b="1">
                <a:solidFill>
                  <a:srgbClr val="F8FAFC"/>
                </a:solidFill>
                <a:latin typeface="Arial"/>
              </a:defRPr>
            </a:pPr>
            <a:r>
              <a:t>Patients, Caregivers &amp; Doctors</a:t>
            </a:r>
          </a:p>
          <a:p>
            <a:pPr>
              <a:lnSpc>
                <a:spcPct val="125000"/>
              </a:lnSpc>
              <a:defRPr sz="1200">
                <a:solidFill>
                  <a:srgbClr val="94A3B8"/>
                </a:solidFill>
                <a:latin typeface="Arial"/>
              </a:defRPr>
            </a:pPr>
            <a:r>
              <a:t>Empowers elderly and polypharmacy patients managing 5+ daily drugs by consolidating prescriptions from multiple specialists.</a:t>
            </a:r>
            <a:br/>
            <a:br/>
            <a:r>
              <a:t>Saves clinicians 15+ minutes per consultation by providing a synthesized chronological history and pre-audited drug list.</a:t>
            </a:r>
          </a:p>
        </p:txBody>
      </p:sp>
      <p:sp>
        <p:nvSpPr>
          <p:cNvPr id="12" name="Rounded Rectangle 11"/>
          <p:cNvSpPr/>
          <p:nvPr/>
        </p:nvSpPr>
        <p:spPr>
          <a:xfrm>
            <a:off x="8046720" y="2148840"/>
            <a:ext cx="338328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2148840"/>
            <a:ext cx="73152" cy="4114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286000"/>
            <a:ext cx="3063240" cy="3840480"/>
          </a:xfrm>
          <a:prstGeom prst="rect">
            <a:avLst/>
          </a:prstGeom>
          <a:noFill/>
        </p:spPr>
        <p:txBody>
          <a:bodyPr wrap="square">
            <a:spAutoFit/>
          </a:bodyPr>
          <a:lstStyle/>
          <a:p>
            <a:pPr>
              <a:spcAft>
                <a:spcPts val="400"/>
              </a:spcAft>
              <a:defRPr sz="1000" b="1">
                <a:solidFill>
                  <a:srgbClr val="10B981"/>
                </a:solidFill>
                <a:latin typeface="Arial"/>
              </a:defRPr>
            </a:pPr>
            <a:r>
              <a:t>REAL-WORLD IMPACT</a:t>
            </a:r>
          </a:p>
          <a:p>
            <a:pPr>
              <a:spcAft>
                <a:spcPts val="800"/>
              </a:spcAft>
              <a:defRPr sz="1500" b="1">
                <a:solidFill>
                  <a:srgbClr val="F8FAFC"/>
                </a:solidFill>
                <a:latin typeface="Arial"/>
              </a:defRPr>
            </a:pPr>
            <a:r>
              <a:t>Preventing Medication Errors</a:t>
            </a:r>
          </a:p>
          <a:p>
            <a:pPr>
              <a:lnSpc>
                <a:spcPct val="125000"/>
              </a:lnSpc>
              <a:defRPr sz="1200">
                <a:solidFill>
                  <a:srgbClr val="94A3B8"/>
                </a:solidFill>
                <a:latin typeface="Arial"/>
              </a:defRPr>
            </a:pPr>
            <a:r>
              <a:t>Directly mitigates adverse drug events (ADEs)—one of the leading causes of preventable hospitalization worldwide.</a:t>
            </a:r>
            <a:br/>
            <a:br/>
            <a:r>
              <a:t>Empowers proactive health intervention by highlighting subtle longitudinal lab biomarker percentage shifts before acute symptoms manifest.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06B6D4"/>
                </a:solidFill>
                <a:latin typeface="Arial"/>
              </a:defRPr>
            </a:pPr>
            <a:r>
              <a:t>SLIDE 8 OF 8  •  ROADMAP &amp; TECH STACK</a:t>
            </a:r>
          </a:p>
        </p:txBody>
      </p:sp>
      <p:sp>
        <p:nvSpPr>
          <p:cNvPr id="3" name="TextBox 2"/>
          <p:cNvSpPr txBox="1"/>
          <p:nvPr/>
        </p:nvSpPr>
        <p:spPr>
          <a:xfrm>
            <a:off x="731520" y="731520"/>
            <a:ext cx="10698480" cy="640080"/>
          </a:xfrm>
          <a:prstGeom prst="rect">
            <a:avLst/>
          </a:prstGeom>
          <a:noFill/>
        </p:spPr>
        <p:txBody>
          <a:bodyPr wrap="square">
            <a:spAutoFit/>
          </a:bodyPr>
          <a:lstStyle/>
          <a:p>
            <a:pPr>
              <a:defRPr sz="2600" b="1">
                <a:solidFill>
                  <a:srgbClr val="F8FAFC"/>
                </a:solidFill>
                <a:latin typeface="Arial"/>
              </a:defRPr>
            </a:pPr>
            <a:r>
              <a:t>Technology Stack &amp; Future Roadmap</a:t>
            </a:r>
          </a:p>
        </p:txBody>
      </p:sp>
      <p:sp>
        <p:nvSpPr>
          <p:cNvPr id="4" name="TextBox 3"/>
          <p:cNvSpPr txBox="1"/>
          <p:nvPr/>
        </p:nvSpPr>
        <p:spPr>
          <a:xfrm>
            <a:off x="731520" y="1371600"/>
            <a:ext cx="10698480" cy="411480"/>
          </a:xfrm>
          <a:prstGeom prst="rect">
            <a:avLst/>
          </a:prstGeom>
          <a:noFill/>
        </p:spPr>
        <p:txBody>
          <a:bodyPr wrap="square">
            <a:spAutoFit/>
          </a:bodyPr>
          <a:lstStyle/>
          <a:p>
            <a:pPr>
              <a:defRPr sz="1400">
                <a:solidFill>
                  <a:srgbClr val="94A3B8"/>
                </a:solidFill>
                <a:latin typeface="Arial"/>
              </a:defRPr>
            </a:pPr>
            <a:r>
              <a:t>Modern production tooling and strategic expansion into hospital EMR interoperability</a:t>
            </a:r>
          </a:p>
        </p:txBody>
      </p:sp>
      <p:sp>
        <p:nvSpPr>
          <p:cNvPr id="5" name="Rectangle 4"/>
          <p:cNvSpPr/>
          <p:nvPr/>
        </p:nvSpPr>
        <p:spPr>
          <a:xfrm>
            <a:off x="731520" y="1874519"/>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48840"/>
            <a:ext cx="530352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48840"/>
            <a:ext cx="73152" cy="4114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983480" cy="3840480"/>
          </a:xfrm>
          <a:prstGeom prst="rect">
            <a:avLst/>
          </a:prstGeom>
          <a:noFill/>
        </p:spPr>
        <p:txBody>
          <a:bodyPr wrap="square">
            <a:spAutoFit/>
          </a:bodyPr>
          <a:lstStyle/>
          <a:p>
            <a:pPr>
              <a:spcAft>
                <a:spcPts val="400"/>
              </a:spcAft>
              <a:defRPr sz="1000" b="1">
                <a:solidFill>
                  <a:srgbClr val="06B6D4"/>
                </a:solidFill>
                <a:latin typeface="Arial"/>
              </a:defRPr>
            </a:pPr>
            <a:r>
              <a:t>PRODUCTION TECH STACK</a:t>
            </a:r>
          </a:p>
          <a:p>
            <a:pPr>
              <a:spcAft>
                <a:spcPts val="800"/>
              </a:spcAft>
              <a:defRPr sz="1500" b="1">
                <a:solidFill>
                  <a:srgbClr val="F8FAFC"/>
                </a:solidFill>
                <a:latin typeface="Arial"/>
              </a:defRPr>
            </a:pPr>
            <a:r>
              <a:t>Full-Stack TypeScript &amp; Python 3.11</a:t>
            </a:r>
          </a:p>
          <a:p>
            <a:pPr>
              <a:lnSpc>
                <a:spcPct val="125000"/>
              </a:lnSpc>
              <a:defRPr sz="1200">
                <a:solidFill>
                  <a:srgbClr val="94A3B8"/>
                </a:solidFill>
                <a:latin typeface="Arial"/>
              </a:defRPr>
            </a:pPr>
            <a:r>
              <a:t>• FRONTEND: React 18, Vite, TypeScript, Tailwind CSS, Lucide Icons, Axios, modular responsive UI.</a:t>
            </a:r>
            <a:br/>
            <a:br/>
            <a:r>
              <a:t>• BACKEND API: Python 3.11, FastAPI, Uvicorn, Pydantic v2, PyMuPDF, pdfplumber, Pillow.</a:t>
            </a:r>
            <a:br/>
            <a:br/>
            <a:r>
              <a:t>• LLM &amp; RAG: Groq (gpt-oss-120b/qwen vision), Google Gemini 3.6-Flash, OpenRouter Auto-Fallback, ChromaDB / ONNX MiniLM.</a:t>
            </a:r>
            <a:br/>
            <a:br/>
            <a:r>
              <a:t>• STORAGE &amp; CLOUD: Supabase Postgres (anonymized tokens), Cloudinary cloud archiving, Vercel / Render deployment.</a:t>
            </a:r>
          </a:p>
        </p:txBody>
      </p:sp>
      <p:sp>
        <p:nvSpPr>
          <p:cNvPr id="9" name="Rounded Rectangle 8"/>
          <p:cNvSpPr/>
          <p:nvPr/>
        </p:nvSpPr>
        <p:spPr>
          <a:xfrm>
            <a:off x="6309360" y="214884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214884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86000"/>
            <a:ext cx="4800600" cy="1645920"/>
          </a:xfrm>
          <a:prstGeom prst="rect">
            <a:avLst/>
          </a:prstGeom>
          <a:noFill/>
        </p:spPr>
        <p:txBody>
          <a:bodyPr wrap="square">
            <a:spAutoFit/>
          </a:bodyPr>
          <a:lstStyle/>
          <a:p>
            <a:pPr>
              <a:spcAft>
                <a:spcPts val="400"/>
              </a:spcAft>
              <a:defRPr sz="1000" b="1">
                <a:solidFill>
                  <a:srgbClr val="10B981"/>
                </a:solidFill>
                <a:latin typeface="Arial"/>
              </a:defRPr>
            </a:pPr>
            <a:r>
              <a:t>FUTURE ROADMAP 01</a:t>
            </a:r>
          </a:p>
          <a:p>
            <a:pPr>
              <a:spcAft>
                <a:spcPts val="800"/>
              </a:spcAft>
              <a:defRPr sz="1500" b="1">
                <a:solidFill>
                  <a:srgbClr val="F8FAFC"/>
                </a:solidFill>
                <a:latin typeface="Arial"/>
              </a:defRPr>
            </a:pPr>
            <a:r>
              <a:t>EHR/EMR Interoperability (HL7 FHIR)</a:t>
            </a:r>
          </a:p>
          <a:p>
            <a:pPr>
              <a:lnSpc>
                <a:spcPct val="125000"/>
              </a:lnSpc>
              <a:defRPr sz="1200">
                <a:solidFill>
                  <a:srgbClr val="94A3B8"/>
                </a:solidFill>
                <a:latin typeface="Arial"/>
              </a:defRPr>
            </a:pPr>
            <a:r>
              <a:t>Expand ingestion beyond PDFs/images to support direct sync with SMART-on-FHIR hospital health records and Apple Health / Google Fit wearable biomarkers.</a:t>
            </a:r>
          </a:p>
        </p:txBody>
      </p:sp>
      <p:sp>
        <p:nvSpPr>
          <p:cNvPr id="12" name="Rounded Rectangle 11"/>
          <p:cNvSpPr/>
          <p:nvPr/>
        </p:nvSpPr>
        <p:spPr>
          <a:xfrm>
            <a:off x="6309360" y="4343400"/>
            <a:ext cx="512064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4343400"/>
            <a:ext cx="73152" cy="19202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480560"/>
            <a:ext cx="4800600" cy="1645920"/>
          </a:xfrm>
          <a:prstGeom prst="rect">
            <a:avLst/>
          </a:prstGeom>
          <a:noFill/>
        </p:spPr>
        <p:txBody>
          <a:bodyPr wrap="square">
            <a:spAutoFit/>
          </a:bodyPr>
          <a:lstStyle/>
          <a:p>
            <a:pPr>
              <a:spcAft>
                <a:spcPts val="400"/>
              </a:spcAft>
              <a:defRPr sz="1000" b="1">
                <a:solidFill>
                  <a:srgbClr val="10B981"/>
                </a:solidFill>
                <a:latin typeface="Arial"/>
              </a:defRPr>
            </a:pPr>
            <a:r>
              <a:t>FUTURE ROADMAP 02</a:t>
            </a:r>
          </a:p>
          <a:p>
            <a:pPr>
              <a:spcAft>
                <a:spcPts val="800"/>
              </a:spcAft>
              <a:defRPr sz="1500" b="1">
                <a:solidFill>
                  <a:srgbClr val="F8FAFC"/>
                </a:solidFill>
                <a:latin typeface="Arial"/>
              </a:defRPr>
            </a:pPr>
            <a:r>
              <a:t>Clinician Sharing Portals &amp; RBAC</a:t>
            </a:r>
          </a:p>
          <a:p>
            <a:pPr>
              <a:lnSpc>
                <a:spcPct val="125000"/>
              </a:lnSpc>
              <a:defRPr sz="1200">
                <a:solidFill>
                  <a:srgbClr val="94A3B8"/>
                </a:solidFill>
                <a:latin typeface="Arial"/>
              </a:defRPr>
            </a:pPr>
            <a:r>
              <a:t>Secure QR-code and link sharing with granular Role-Based Access Control (RBAC) for primary care doctors, specialists, and authorized family members.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